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8" r:id="rId5"/>
    <p:sldId id="259" r:id="rId6"/>
    <p:sldId id="265" r:id="rId7"/>
    <p:sldId id="264" r:id="rId8"/>
    <p:sldId id="266" r:id="rId9"/>
    <p:sldId id="261" r:id="rId10"/>
    <p:sldId id="267" r:id="rId11"/>
    <p:sldId id="260" r:id="rId12"/>
    <p:sldId id="269" r:id="rId13"/>
    <p:sldId id="270" r:id="rId14"/>
    <p:sldId id="271" r:id="rId15"/>
    <p:sldId id="262"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1016"/>
            <a:ext cx="9144000" cy="1659988"/>
          </a:xfrm>
        </p:spPr>
        <p:txBody>
          <a:bodyPr/>
          <a:lstStyle/>
          <a:p>
            <a:pPr algn="l"/>
            <a:r>
              <a:t>IBM </a:t>
            </a:r>
            <a:r>
              <a:rPr/>
              <a:t>WebSphere </a:t>
            </a:r>
            <a:r>
              <a:rPr lang="en-US" dirty="0" smtClean="0"/>
              <a:t>Core Components </a:t>
            </a:r>
            <a:endParaRPr/>
          </a:p>
        </p:txBody>
      </p:sp>
      <p:sp>
        <p:nvSpPr>
          <p:cNvPr id="3" name="Subtitle 2"/>
          <p:cNvSpPr>
            <a:spLocks noGrp="1"/>
          </p:cNvSpPr>
          <p:nvPr>
            <p:ph type="subTitle" idx="1"/>
          </p:nvPr>
        </p:nvSpPr>
        <p:spPr>
          <a:xfrm>
            <a:off x="478301" y="1547446"/>
            <a:ext cx="8440615" cy="4452425"/>
          </a:xfrm>
        </p:spPr>
        <p:txBody>
          <a:bodyPr>
            <a:normAutofit lnSpcReduction="10000"/>
          </a:bodyPr>
          <a:lstStyle/>
          <a:p>
            <a:pPr lvl="2" algn="just">
              <a:buFont typeface="Wingdings" pitchFamily="2" charset="2"/>
              <a:buChar char="§"/>
            </a:pPr>
            <a:r>
              <a:rPr lang="en-US" dirty="0" smtClean="0"/>
              <a:t>Profile</a:t>
            </a:r>
          </a:p>
          <a:p>
            <a:pPr lvl="2" algn="just">
              <a:buFont typeface="Wingdings" pitchFamily="2" charset="2"/>
              <a:buChar char="§"/>
            </a:pPr>
            <a:r>
              <a:rPr lang="en-US" dirty="0" smtClean="0"/>
              <a:t>Cell</a:t>
            </a:r>
          </a:p>
          <a:p>
            <a:pPr lvl="2" algn="just">
              <a:buFont typeface="Wingdings" pitchFamily="2" charset="2"/>
              <a:buChar char="§"/>
            </a:pPr>
            <a:r>
              <a:rPr lang="en-US" dirty="0" smtClean="0"/>
              <a:t>Deployment Manage (Network Deployment Manager) </a:t>
            </a:r>
          </a:p>
          <a:p>
            <a:pPr lvl="2" algn="just">
              <a:buFont typeface="Wingdings" pitchFamily="2" charset="2"/>
              <a:buChar char="§"/>
            </a:pPr>
            <a:r>
              <a:rPr lang="en-US" dirty="0" smtClean="0"/>
              <a:t>Admin Console</a:t>
            </a:r>
          </a:p>
          <a:p>
            <a:pPr lvl="2" algn="just">
              <a:buFont typeface="Wingdings" pitchFamily="2" charset="2"/>
              <a:buChar char="§"/>
            </a:pPr>
            <a:r>
              <a:rPr lang="en-US" dirty="0" smtClean="0"/>
              <a:t>Serve or App Server or Managed Server </a:t>
            </a:r>
          </a:p>
          <a:p>
            <a:pPr lvl="2" algn="just">
              <a:buFont typeface="Wingdings" pitchFamily="2" charset="2"/>
              <a:buChar char="§"/>
            </a:pPr>
            <a:r>
              <a:rPr lang="en-US" dirty="0" smtClean="0"/>
              <a:t>Cluster</a:t>
            </a:r>
          </a:p>
          <a:p>
            <a:pPr lvl="2" algn="just">
              <a:buFont typeface="Wingdings" pitchFamily="2" charset="2"/>
              <a:buChar char="§"/>
            </a:pPr>
            <a:r>
              <a:rPr lang="en-US" dirty="0" smtClean="0"/>
              <a:t>Node</a:t>
            </a:r>
          </a:p>
          <a:p>
            <a:pPr lvl="2" algn="just">
              <a:buFont typeface="Wingdings" pitchFamily="2" charset="2"/>
              <a:buChar char="§"/>
            </a:pPr>
            <a:r>
              <a:rPr lang="en-US" dirty="0" smtClean="0"/>
              <a:t>Federation </a:t>
            </a:r>
          </a:p>
          <a:p>
            <a:pPr lvl="2" algn="just">
              <a:buFont typeface="Wingdings" pitchFamily="2" charset="2"/>
              <a:buChar char="§"/>
            </a:pPr>
            <a:r>
              <a:rPr lang="en-US" dirty="0" smtClean="0"/>
              <a:t>Node Agent </a:t>
            </a:r>
          </a:p>
          <a:p>
            <a:pPr lvl="2" algn="just">
              <a:buFont typeface="Wingdings" pitchFamily="2" charset="2"/>
              <a:buChar char="§"/>
            </a:pPr>
            <a:r>
              <a:rPr lang="en-US" dirty="0" smtClean="0"/>
              <a:t>Managed and Unmanaged nodes </a:t>
            </a:r>
          </a:p>
          <a:p>
            <a:pPr lvl="2" algn="just">
              <a:buFont typeface="Wingdings" pitchFamily="2" charset="2"/>
              <a:buChar char="§"/>
            </a:pPr>
            <a:r>
              <a:rPr lang="en-US" dirty="0" smtClean="0"/>
              <a:t>Administrative Agent </a:t>
            </a:r>
          </a:p>
          <a:p>
            <a:pPr lvl="2" algn="just">
              <a:buFont typeface="Wingdings" pitchFamily="2" charset="2"/>
              <a:buChar char="§"/>
            </a:pPr>
            <a:endParaRPr lang="en-US" dirty="0" smtClean="0"/>
          </a:p>
          <a:p>
            <a:pPr lvl="2" algn="just"/>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pPr algn="l"/>
            <a:r>
              <a:rPr lang="en-US" dirty="0" smtClean="0"/>
              <a:t>Profile</a:t>
            </a:r>
            <a:endParaRPr/>
          </a:p>
        </p:txBody>
      </p:sp>
      <p:sp>
        <p:nvSpPr>
          <p:cNvPr id="3" name="Content Placeholder 2"/>
          <p:cNvSpPr>
            <a:spLocks noGrp="1"/>
          </p:cNvSpPr>
          <p:nvPr>
            <p:ph idx="1"/>
          </p:nvPr>
        </p:nvSpPr>
        <p:spPr>
          <a:xfrm>
            <a:off x="0" y="1111348"/>
            <a:ext cx="9144000" cy="5014815"/>
          </a:xfrm>
        </p:spPr>
        <p:txBody>
          <a:bodyPr>
            <a:normAutofit/>
          </a:bodyPr>
          <a:lstStyle/>
          <a:p>
            <a:r>
              <a:rPr lang="en-US" sz="2000" dirty="0" smtClean="0"/>
              <a:t>The first steps after installing WAS is to create profile</a:t>
            </a:r>
          </a:p>
          <a:p>
            <a:r>
              <a:rPr lang="en-US" sz="2000" dirty="0" smtClean="0"/>
              <a:t>Profiles is a set of files/.xml files that provides the runtime environment of a websphere application server </a:t>
            </a:r>
          </a:p>
          <a:p>
            <a:r>
              <a:rPr lang="en-US" sz="2000" dirty="0" smtClean="0"/>
              <a:t>We can create multiple profiles form a single Websphere Installation ,there e are advantage of creating a profiles instead of multiple installation of the WAS products(Not recommended for prod)</a:t>
            </a:r>
          </a:p>
          <a:p>
            <a:r>
              <a:rPr lang="en-US" sz="2000" dirty="0" smtClean="0"/>
              <a:t>A need for more than one profiles one server is common ex. You might want create separate profiles of the application server  for deployment </a:t>
            </a:r>
          </a:p>
          <a:p>
            <a:r>
              <a:rPr lang="en-US" sz="2000" dirty="0" smtClean="0"/>
              <a:t>Not  only disk-space but updating the application server is simplifies when  you maintain a single set of core  files Also creating new profiles is more efficient  and less prone to errors than full installation  of the WAS</a:t>
            </a:r>
          </a:p>
          <a:p>
            <a:r>
              <a:rPr lang="en-US" sz="2000" dirty="0" smtClean="0"/>
              <a:t>Each profile has its own administrative console and administrative script interface.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Cell and Domain</a:t>
            </a:r>
          </a:p>
        </p:txBody>
      </p:sp>
      <p:sp>
        <p:nvSpPr>
          <p:cNvPr id="3" name="Content Placeholder 2"/>
          <p:cNvSpPr>
            <a:spLocks noGrp="1"/>
          </p:cNvSpPr>
          <p:nvPr>
            <p:ph idx="1"/>
          </p:nvPr>
        </p:nvSpPr>
        <p:spPr/>
        <p:txBody>
          <a:bodyPr>
            <a:normAutofit/>
          </a:bodyPr>
          <a:lstStyle/>
          <a:p>
            <a:r>
              <a:rPr sz="1400"/>
              <a:t>A Cell </a:t>
            </a:r>
            <a:r>
              <a:rPr lang="en-US" sz="1400" dirty="0" smtClean="0"/>
              <a:t> is a logical group of one or more nodes in a websphere application server.</a:t>
            </a:r>
          </a:p>
          <a:p>
            <a:r>
              <a:rPr lang="en-US" sz="1400" dirty="0" smtClean="0"/>
              <a:t>The cell provides a way to manage and configure all the nodes and serer under a single administrative </a:t>
            </a:r>
            <a:r>
              <a:rPr lang="en-US" sz="1400" dirty="0" err="1" smtClean="0"/>
              <a:t>umberalla</a:t>
            </a:r>
            <a:r>
              <a:rPr lang="en-US" sz="1400" dirty="0" smtClean="0"/>
              <a:t>, It allows us to centralized management of the entire websphere environment. </a:t>
            </a:r>
          </a:p>
          <a:p>
            <a:r>
              <a:rPr lang="en-US" sz="1400" dirty="0" smtClean="0"/>
              <a:t>Cell includes a </a:t>
            </a:r>
            <a:r>
              <a:rPr lang="en-US" sz="1400" dirty="0" err="1" smtClean="0"/>
              <a:t>deplyment</a:t>
            </a:r>
            <a:r>
              <a:rPr lang="en-US" sz="1400" dirty="0" smtClean="0"/>
              <a:t> manager (DMGR) and various nodes each </a:t>
            </a:r>
            <a:r>
              <a:rPr lang="en-US" sz="1400" dirty="0" err="1" smtClean="0"/>
              <a:t>contaning</a:t>
            </a:r>
            <a:r>
              <a:rPr lang="en-US" sz="1400" dirty="0" smtClean="0"/>
              <a:t> one or more application server</a:t>
            </a:r>
          </a:p>
          <a:p>
            <a:r>
              <a:rPr lang="en-US" sz="1400" dirty="0" smtClean="0"/>
              <a:t>The </a:t>
            </a:r>
            <a:r>
              <a:rPr lang="en-US" sz="1400" dirty="0" err="1" smtClean="0"/>
              <a:t>defauls</a:t>
            </a:r>
            <a:r>
              <a:rPr lang="en-US" sz="1400" dirty="0" smtClean="0"/>
              <a:t> profile name when you create a CELL profile  is AppSrv01 </a:t>
            </a:r>
          </a:p>
          <a:p>
            <a:r>
              <a:rPr sz="1400" smtClean="0"/>
              <a:t> </a:t>
            </a:r>
            <a:r>
              <a:rPr sz="1400"/>
              <a:t>A Domain (Cell) can contain multiple Nodes.</a:t>
            </a:r>
          </a:p>
          <a:p>
            <a:r>
              <a:rPr sz="1400" smtClean="0"/>
              <a:t> </a:t>
            </a:r>
            <a:r>
              <a:rPr sz="1400"/>
              <a:t>Managed by the Deployment Manager (DMGR).</a:t>
            </a:r>
          </a:p>
          <a:p>
            <a:r>
              <a:rPr sz="1400" smtClean="0"/>
              <a:t> </a:t>
            </a:r>
            <a:r>
              <a:rPr sz="1400"/>
              <a:t>Provides centralized administration for configuration and management.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Network Deployment Manager</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Centralized administration:</a:t>
            </a:r>
            <a:r>
              <a:rPr lang="en-US" dirty="0" smtClean="0"/>
              <a:t> Manage entire cell via Deployment Manager (dmgr).</a:t>
            </a:r>
          </a:p>
          <a:p>
            <a:r>
              <a:rPr lang="en-US" b="1" dirty="0" smtClean="0"/>
              <a:t>Cell-based topology:</a:t>
            </a:r>
            <a:r>
              <a:rPr lang="en-US" dirty="0" smtClean="0"/>
              <a:t> Organizes nodes and servers into one manageable unit.</a:t>
            </a:r>
          </a:p>
          <a:p>
            <a:r>
              <a:rPr lang="en-US" b="1" dirty="0" smtClean="0"/>
              <a:t>Node agents:</a:t>
            </a:r>
            <a:r>
              <a:rPr lang="en-US" dirty="0" smtClean="0"/>
              <a:t> Sync configuration and manage server operations.</a:t>
            </a:r>
          </a:p>
          <a:p>
            <a:r>
              <a:rPr lang="en-US" b="1" dirty="0" smtClean="0"/>
              <a:t>Federated nodes:</a:t>
            </a:r>
            <a:r>
              <a:rPr lang="en-US" dirty="0" smtClean="0"/>
              <a:t> Easily add/remove nodes in the cell.</a:t>
            </a:r>
          </a:p>
          <a:p>
            <a:r>
              <a:rPr lang="en-US" b="1" dirty="0" smtClean="0"/>
              <a:t>Cluster management:</a:t>
            </a:r>
            <a:r>
              <a:rPr lang="en-US" dirty="0" smtClean="0"/>
              <a:t> Create/manage clusters for scalability and high availability.</a:t>
            </a:r>
          </a:p>
          <a:p>
            <a:r>
              <a:rPr lang="en-US" b="1" dirty="0" smtClean="0"/>
              <a:t>Rolling updates:</a:t>
            </a:r>
            <a:r>
              <a:rPr lang="en-US" dirty="0" smtClean="0"/>
              <a:t> Apply changes with minimal downtime.</a:t>
            </a:r>
          </a:p>
          <a:p>
            <a:r>
              <a:rPr lang="en-US" b="1" dirty="0" smtClean="0"/>
              <a:t>Central </a:t>
            </a:r>
            <a:r>
              <a:rPr lang="en-US" b="1" dirty="0" err="1" smtClean="0"/>
              <a:t>config</a:t>
            </a:r>
            <a:r>
              <a:rPr lang="en-US" b="1" dirty="0" smtClean="0"/>
              <a:t> repository:</a:t>
            </a:r>
            <a:r>
              <a:rPr lang="en-US" dirty="0" smtClean="0"/>
              <a:t> Versioned XML-based configuration sync.</a:t>
            </a:r>
          </a:p>
          <a:p>
            <a:r>
              <a:rPr lang="en-US" b="1" dirty="0" smtClean="0"/>
              <a:t>App lifecycle management:</a:t>
            </a:r>
            <a:r>
              <a:rPr lang="en-US" dirty="0" smtClean="0"/>
              <a:t> Deploy, update, start/stop apps centrally.</a:t>
            </a:r>
          </a:p>
          <a:p>
            <a:r>
              <a:rPr lang="en-US" b="1" dirty="0" smtClean="0"/>
              <a:t>Load balancing:</a:t>
            </a:r>
            <a:r>
              <a:rPr lang="en-US" dirty="0" smtClean="0"/>
              <a:t> Distribute workload using </a:t>
            </a:r>
            <a:r>
              <a:rPr lang="en-US" dirty="0" err="1" smtClean="0"/>
              <a:t>plugins</a:t>
            </a:r>
            <a:r>
              <a:rPr lang="en-US" dirty="0" smtClean="0"/>
              <a:t> and internal balancing.</a:t>
            </a:r>
          </a:p>
          <a:p>
            <a:r>
              <a:rPr lang="en-US" b="1" dirty="0" smtClean="0"/>
              <a:t>High availability:</a:t>
            </a:r>
            <a:r>
              <a:rPr lang="en-US" dirty="0" smtClean="0"/>
              <a:t> Session replication and failover support.</a:t>
            </a:r>
          </a:p>
          <a:p>
            <a:r>
              <a:rPr lang="en-US" b="1" dirty="0" smtClean="0"/>
              <a:t>Security:</a:t>
            </a:r>
            <a:r>
              <a:rPr lang="en-US" dirty="0" smtClean="0"/>
              <a:t> Centralized LDAP/SSL integration and role-based access.</a:t>
            </a:r>
          </a:p>
          <a:p>
            <a:r>
              <a:rPr lang="en-US" b="1" dirty="0" smtClean="0"/>
              <a:t>Automation:</a:t>
            </a:r>
            <a:r>
              <a:rPr lang="en-US" dirty="0" smtClean="0"/>
              <a:t> Use wsadmin scripting (</a:t>
            </a:r>
            <a:r>
              <a:rPr lang="en-US" dirty="0" err="1" smtClean="0"/>
              <a:t>Jython</a:t>
            </a:r>
            <a:r>
              <a:rPr lang="en-US" dirty="0" smtClean="0"/>
              <a:t>/JACL) for admin tasks.</a:t>
            </a:r>
          </a:p>
          <a:p>
            <a:r>
              <a:rPr lang="en-US" b="1" dirty="0" smtClean="0"/>
              <a:t>Monitoring:</a:t>
            </a:r>
            <a:r>
              <a:rPr lang="en-US" dirty="0" smtClean="0"/>
              <a:t> Track health via console, logs, and JMX metrics.</a:t>
            </a:r>
          </a:p>
          <a:p>
            <a:r>
              <a:rPr lang="en-US" b="1" dirty="0" smtClean="0"/>
              <a:t>Web server </a:t>
            </a:r>
            <a:r>
              <a:rPr lang="en-US" b="1" dirty="0" err="1" smtClean="0"/>
              <a:t>plugins</a:t>
            </a:r>
            <a:r>
              <a:rPr lang="en-US" b="1" dirty="0" smtClean="0"/>
              <a:t>:</a:t>
            </a:r>
            <a:r>
              <a:rPr lang="en-US" dirty="0" smtClean="0"/>
              <a:t> Auto-generate routing </a:t>
            </a:r>
            <a:r>
              <a:rPr lang="en-US" dirty="0" err="1" smtClean="0"/>
              <a:t>plugins</a:t>
            </a:r>
            <a:r>
              <a:rPr lang="en-US" dirty="0" smtClean="0"/>
              <a:t> for clusters.</a:t>
            </a:r>
          </a:p>
          <a:p>
            <a:r>
              <a:rPr lang="en-US" b="1" dirty="0" smtClean="0"/>
              <a:t>Backup &amp; recovery:</a:t>
            </a:r>
            <a:r>
              <a:rPr lang="en-US" dirty="0" smtClean="0"/>
              <a:t> </a:t>
            </a:r>
            <a:r>
              <a:rPr lang="en-US" dirty="0" err="1" smtClean="0"/>
              <a:t>Config</a:t>
            </a:r>
            <a:r>
              <a:rPr lang="en-US" dirty="0" smtClean="0"/>
              <a:t> export/import for DR and migration.</a:t>
            </a:r>
          </a:p>
          <a:p>
            <a:r>
              <a:rPr lang="en-US" b="1" dirty="0" smtClean="0"/>
              <a:t>Performance tuning:</a:t>
            </a:r>
            <a:r>
              <a:rPr lang="en-US" dirty="0" smtClean="0"/>
              <a:t> Optimize JVM, threads, and connection pools.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t>Admin Console </a:t>
            </a:r>
            <a:endParaRPr/>
          </a:p>
        </p:txBody>
      </p:sp>
      <p:sp>
        <p:nvSpPr>
          <p:cNvPr id="3" name="Content Placeholder 2"/>
          <p:cNvSpPr>
            <a:spLocks noGrp="1"/>
          </p:cNvSpPr>
          <p:nvPr>
            <p:ph idx="1"/>
          </p:nvPr>
        </p:nvSpPr>
        <p:spPr/>
        <p:txBody>
          <a:bodyPr>
            <a:normAutofit/>
          </a:bodyPr>
          <a:lstStyle/>
          <a:p>
            <a:r>
              <a:rPr sz="1400" smtClean="0"/>
              <a:t>The </a:t>
            </a:r>
            <a:r>
              <a:rPr sz="1400"/>
              <a:t>DMGR is the central control point of the WebSphere Cell</a:t>
            </a:r>
            <a:r>
              <a:rPr sz="1400" smtClean="0"/>
              <a:t>.</a:t>
            </a:r>
            <a:endParaRPr lang="en-US" sz="1400" dirty="0" smtClean="0"/>
          </a:p>
          <a:p>
            <a:endParaRPr lang="en-US" sz="1400" dirty="0" smtClean="0"/>
          </a:p>
          <a:p>
            <a:r>
              <a:rPr lang="en-US" sz="1400" dirty="0" smtClean="0"/>
              <a:t>The Admin console in WebSphere , also know as the Integrated Solution Console (ISC), is a web-based  Administrative interface that allows administrators to manage and </a:t>
            </a:r>
            <a:r>
              <a:rPr lang="en-US" sz="1400" dirty="0" err="1" smtClean="0"/>
              <a:t>configur</a:t>
            </a:r>
            <a:r>
              <a:rPr lang="en-US" sz="1400" dirty="0" smtClean="0"/>
              <a:t> the </a:t>
            </a:r>
            <a:r>
              <a:rPr lang="en-US" sz="1400" dirty="0" err="1" smtClean="0"/>
              <a:t>webspehre</a:t>
            </a:r>
            <a:r>
              <a:rPr lang="en-US" sz="1400" dirty="0" smtClean="0"/>
              <a:t> Application sever environment. </a:t>
            </a:r>
            <a:endParaRPr sz="1400"/>
          </a:p>
          <a:p>
            <a:r>
              <a:rPr sz="1400" smtClean="0"/>
              <a:t>Manages </a:t>
            </a:r>
            <a:r>
              <a:rPr sz="1400"/>
              <a:t>configuration repository for the entire cell.</a:t>
            </a:r>
          </a:p>
          <a:p>
            <a:r>
              <a:rPr sz="1400" smtClean="0"/>
              <a:t>Handles </a:t>
            </a:r>
            <a:r>
              <a:rPr sz="1400"/>
              <a:t>synchronization with Node Agents</a:t>
            </a:r>
            <a:r>
              <a:rPr sz="1400" smtClean="0"/>
              <a:t>.</a:t>
            </a:r>
            <a:endParaRPr lang="en-US" sz="1400" dirty="0" smtClean="0"/>
          </a:p>
          <a:p>
            <a:endParaRPr lang="en-US" sz="1400" dirty="0" smtClean="0"/>
          </a:p>
          <a:p>
            <a:endParaRPr sz="14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0" y="249876"/>
            <a:ext cx="6302326" cy="331494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 y="3564821"/>
            <a:ext cx="6302326" cy="32931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defTabSz="457200" rtl="0">
              <a:spcBef>
                <a:spcPct val="0"/>
              </a:spcBef>
            </a:pPr>
            <a:r>
              <a:rPr lang="en-US" dirty="0" smtClean="0"/>
              <a:t>Standalone Application Server or App Server or Managed Server </a:t>
            </a:r>
            <a:br>
              <a:rPr lang="en-US" dirty="0" smtClean="0"/>
            </a:br>
            <a:endParaRPr lang="en-US" dirty="0"/>
          </a:p>
        </p:txBody>
      </p:sp>
      <p:sp>
        <p:nvSpPr>
          <p:cNvPr id="3" name="Content Placeholder 2"/>
          <p:cNvSpPr>
            <a:spLocks noGrp="1"/>
          </p:cNvSpPr>
          <p:nvPr>
            <p:ph idx="1"/>
          </p:nvPr>
        </p:nvSpPr>
        <p:spPr>
          <a:xfrm>
            <a:off x="457200" y="1041010"/>
            <a:ext cx="8229600" cy="5085154"/>
          </a:xfrm>
        </p:spPr>
        <p:txBody>
          <a:bodyPr>
            <a:normAutofit/>
          </a:bodyPr>
          <a:lstStyle/>
          <a:p>
            <a:r>
              <a:rPr lang="en-US" sz="1400" dirty="0" smtClean="0"/>
              <a:t>In Websphere Application server , an application server or Managed server is an instance of WebSphere that hosts and runs enterprise application </a:t>
            </a:r>
          </a:p>
          <a:p>
            <a:r>
              <a:rPr lang="en-US" sz="1400" dirty="0" smtClean="0"/>
              <a:t>The primary role of an application server in WebSphere is to provide a runtime environment for enterprise application , such as java EE application web services and more </a:t>
            </a:r>
          </a:p>
          <a:p>
            <a:r>
              <a:rPr lang="en-US" sz="1400" dirty="0" smtClean="0"/>
              <a:t>This profile is used to create a standalone application server </a:t>
            </a:r>
          </a:p>
          <a:p>
            <a:r>
              <a:rPr lang="en-US" sz="1400" dirty="0" smtClean="0"/>
              <a:t>The purpose of standalone server is to prepare a runtime environment which works independent to other application sever instance and is managed independently using its own console</a:t>
            </a:r>
          </a:p>
          <a:p>
            <a:r>
              <a:rPr lang="en-US" sz="1400" dirty="0" smtClean="0"/>
              <a:t>Although this server profile (node) later can be added to deployment manager to become part of bigger deployment , but normally it is used to prepare standalone application deployment </a:t>
            </a:r>
          </a:p>
          <a:p>
            <a:r>
              <a:rPr lang="en-US" sz="1400" dirty="0" smtClean="0"/>
              <a:t>When you create this profile , a default application server instance automatically get created </a:t>
            </a:r>
          </a:p>
          <a:p>
            <a:endParaRPr lang="en-US" sz="20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0" y="238591"/>
            <a:ext cx="8229600" cy="415428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t>Cluster</a:t>
            </a:r>
          </a:p>
        </p:txBody>
      </p:sp>
      <p:sp>
        <p:nvSpPr>
          <p:cNvPr id="3" name="Content Placeholder 2"/>
          <p:cNvSpPr>
            <a:spLocks noGrp="1"/>
          </p:cNvSpPr>
          <p:nvPr>
            <p:ph idx="1"/>
          </p:nvPr>
        </p:nvSpPr>
        <p:spPr/>
        <p:txBody>
          <a:bodyPr/>
          <a:lstStyle/>
          <a:p>
            <a:r>
              <a:rPr sz="1600"/>
              <a:t>A Cluster is a logical group of Application Server instances that host the same applications</a:t>
            </a:r>
            <a:r>
              <a:rPr sz="1600" smtClean="0"/>
              <a:t>.</a:t>
            </a:r>
          </a:p>
          <a:p>
            <a:r>
              <a:rPr sz="1600" smtClean="0"/>
              <a:t> </a:t>
            </a:r>
            <a:r>
              <a:rPr sz="1600"/>
              <a:t>Provides scalability and load balancing.</a:t>
            </a:r>
          </a:p>
          <a:p>
            <a:r>
              <a:rPr lang="en-US" sz="1600" dirty="0" smtClean="0"/>
              <a:t> </a:t>
            </a:r>
            <a:r>
              <a:rPr sz="1600" smtClean="0"/>
              <a:t>Ensures </a:t>
            </a:r>
            <a:r>
              <a:rPr sz="1600"/>
              <a:t>high availability and failover</a:t>
            </a:r>
            <a:r>
              <a:rPr sz="1600" smtClean="0"/>
              <a:t>.</a:t>
            </a:r>
            <a:endParaRPr lang="en-US" sz="1600" dirty="0" smtClean="0"/>
          </a:p>
          <a:p>
            <a:r>
              <a:rPr lang="en-US" sz="1600" dirty="0" smtClean="0"/>
              <a:t>Managed as a single unit by the DMGR</a:t>
            </a:r>
          </a:p>
          <a:p>
            <a:r>
              <a:rPr lang="en-US" sz="1600" dirty="0" smtClean="0"/>
              <a:t>Example : - An e-commerce website uses a WebSphere cluster to ensure high availability and handle peak traffic by distributing the load across multiple servers, keeping the site responsive and reliable even if one server fails.</a:t>
            </a:r>
          </a:p>
          <a:p>
            <a:endParaRPr lang="en-US" sz="1600" dirty="0" smtClean="0"/>
          </a:p>
          <a:p>
            <a:endParaRPr lang="en-US" sz="16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200" dirty="0" smtClean="0"/>
              <a:t>Go to Servers &gt; Clusters &gt; WebSphere application server clusters.</a:t>
            </a:r>
            <a:r>
              <a:rPr lang="en-US" dirty="0" smtClean="0"/>
              <a:t/>
            </a:r>
            <a:br>
              <a:rPr lang="en-US" dirty="0" smtClean="0"/>
            </a:b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1004887" y="2067719"/>
            <a:ext cx="7134225" cy="3590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mtClean="0"/>
              <a:t>Node</a:t>
            </a:r>
            <a:endParaRPr/>
          </a:p>
        </p:txBody>
      </p:sp>
      <p:sp>
        <p:nvSpPr>
          <p:cNvPr id="3" name="Content Placeholder 2"/>
          <p:cNvSpPr>
            <a:spLocks noGrp="1"/>
          </p:cNvSpPr>
          <p:nvPr>
            <p:ph idx="1"/>
          </p:nvPr>
        </p:nvSpPr>
        <p:spPr/>
        <p:txBody>
          <a:bodyPr>
            <a:normAutofit/>
          </a:bodyPr>
          <a:lstStyle/>
          <a:p>
            <a:r>
              <a:rPr sz="2000" smtClean="0"/>
              <a:t>A </a:t>
            </a:r>
            <a:r>
              <a:rPr sz="2000"/>
              <a:t>Node represents </a:t>
            </a:r>
            <a:r>
              <a:rPr sz="2000" smtClean="0"/>
              <a:t>a</a:t>
            </a:r>
            <a:r>
              <a:rPr lang="en-US" sz="2000" dirty="0" smtClean="0"/>
              <a:t> logical group of servers instances within a </a:t>
            </a:r>
            <a:r>
              <a:rPr lang="en-US" sz="2000" dirty="0" err="1" smtClean="0"/>
              <a:t>WebSpehre</a:t>
            </a:r>
            <a:r>
              <a:rPr lang="en-US" sz="2000" dirty="0" smtClean="0"/>
              <a:t> Application server environment, It </a:t>
            </a:r>
            <a:r>
              <a:rPr lang="en-US" sz="2000" dirty="0" err="1" smtClean="0"/>
              <a:t>typcally</a:t>
            </a:r>
            <a:r>
              <a:rPr lang="en-US" sz="2000" dirty="0" smtClean="0"/>
              <a:t> represents a physical machine or virtual machine </a:t>
            </a:r>
            <a:endParaRPr sz="2000"/>
          </a:p>
          <a:p>
            <a:r>
              <a:rPr sz="2000" smtClean="0"/>
              <a:t>Node </a:t>
            </a:r>
            <a:r>
              <a:rPr sz="2000"/>
              <a:t>Agent communicates between DMGR and Application Servers on that node.</a:t>
            </a:r>
          </a:p>
          <a:p>
            <a:r>
              <a:rPr sz="2000" smtClean="0"/>
              <a:t>Handles </a:t>
            </a:r>
            <a:r>
              <a:rPr sz="2000"/>
              <a:t>configuration synchronization, startup, and monitoring</a:t>
            </a:r>
            <a:r>
              <a:rPr sz="2000" smtClean="0"/>
              <a:t>.</a:t>
            </a:r>
            <a:endParaRPr lang="en-US" sz="2000" dirty="0" smtClean="0"/>
          </a:p>
          <a:p>
            <a:r>
              <a:rPr lang="en-US" sz="2000" dirty="0" smtClean="0"/>
              <a:t>A node can contain </a:t>
            </a:r>
            <a:r>
              <a:rPr lang="en-US" sz="2000" dirty="0" err="1" smtClean="0"/>
              <a:t>mulitiple</a:t>
            </a:r>
            <a:r>
              <a:rPr lang="en-US" sz="2000" dirty="0" smtClean="0"/>
              <a:t> application servers (JVM) that run and hot application </a:t>
            </a:r>
          </a:p>
          <a:p>
            <a:r>
              <a:rPr lang="en-US" sz="2000" dirty="0" smtClean="0"/>
              <a:t>By default ,node names are based on the  host name of the computer. </a:t>
            </a:r>
            <a:endParaRPr sz="20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Federation </a:t>
            </a:r>
            <a:endParaRPr lang="en-US" dirty="0"/>
          </a:p>
        </p:txBody>
      </p:sp>
      <p:sp>
        <p:nvSpPr>
          <p:cNvPr id="3" name="Content Placeholder 2"/>
          <p:cNvSpPr>
            <a:spLocks noGrp="1"/>
          </p:cNvSpPr>
          <p:nvPr>
            <p:ph idx="1"/>
          </p:nvPr>
        </p:nvSpPr>
        <p:spPr/>
        <p:txBody>
          <a:bodyPr/>
          <a:lstStyle/>
          <a:p>
            <a:r>
              <a:rPr lang="en-US" dirty="0" smtClean="0"/>
              <a:t>Adding the application server node to a cell is know as federation.</a:t>
            </a:r>
          </a:p>
          <a:p>
            <a:r>
              <a:rPr lang="en-US" dirty="0" smtClean="0"/>
              <a:t>Federation changes the standalone application serer node into a managed node, you can use the administrative console of the deployment manager to manage the node</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t>Node Agent </a:t>
            </a:r>
            <a:r>
              <a:rPr lang="en-US" sz="2200" dirty="0" smtClean="0"/>
              <a:t>(created Automatically when you create Node)</a:t>
            </a:r>
            <a:endParaRPr lang="en-US" sz="2200" dirty="0"/>
          </a:p>
        </p:txBody>
      </p:sp>
      <p:sp>
        <p:nvSpPr>
          <p:cNvPr id="3" name="Content Placeholder 2"/>
          <p:cNvSpPr>
            <a:spLocks noGrp="1"/>
          </p:cNvSpPr>
          <p:nvPr>
            <p:ph idx="1"/>
          </p:nvPr>
        </p:nvSpPr>
        <p:spPr/>
        <p:txBody>
          <a:bodyPr/>
          <a:lstStyle/>
          <a:p>
            <a:r>
              <a:rPr lang="en-US" sz="2000" dirty="0" smtClean="0"/>
              <a:t>Each node in the cell has a node agent that communicate with the DMGR. The node Agent ensure that the configuration and operations specified by the DMGR are applied to the node’s server</a:t>
            </a:r>
          </a:p>
          <a:p>
            <a:r>
              <a:rPr lang="en-US" sz="2000" dirty="0" smtClean="0"/>
              <a:t>Role of Node Agent </a:t>
            </a:r>
          </a:p>
          <a:p>
            <a:pPr lvl="1"/>
            <a:r>
              <a:rPr lang="en-US" sz="1600" dirty="0" smtClean="0"/>
              <a:t>Communication : Facilitating communication between the DMGR and the application server</a:t>
            </a:r>
          </a:p>
          <a:p>
            <a:pPr lvl="1"/>
            <a:r>
              <a:rPr lang="en-US" sz="1600" dirty="0" smtClean="0"/>
              <a:t>Configuration Synchronization : Ensuring that configuration changes made by the DMGR are propagated and applied to the server instanced on the node</a:t>
            </a:r>
          </a:p>
          <a:p>
            <a:pPr lvl="1"/>
            <a:r>
              <a:rPr lang="en-US" sz="1600" dirty="0" smtClean="0"/>
              <a:t>Server Management : starting , stopping  and monitoring the server instance based on commands for the DMGR.</a:t>
            </a:r>
          </a:p>
          <a:p>
            <a:pPr lvl="1"/>
            <a:r>
              <a:rPr lang="en-US" sz="1600" dirty="0" smtClean="0"/>
              <a:t>When we do the command line synchronization node agent mush be stopped. </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Managed and Unmanaged nodes</a:t>
            </a:r>
            <a:endParaRPr lang="en-US" dirty="0"/>
          </a:p>
        </p:txBody>
      </p:sp>
      <p:sp>
        <p:nvSpPr>
          <p:cNvPr id="3" name="Content Placeholder 2"/>
          <p:cNvSpPr>
            <a:spLocks noGrp="1"/>
          </p:cNvSpPr>
          <p:nvPr>
            <p:ph idx="1"/>
          </p:nvPr>
        </p:nvSpPr>
        <p:spPr/>
        <p:txBody>
          <a:bodyPr>
            <a:normAutofit/>
          </a:bodyPr>
          <a:lstStyle/>
          <a:p>
            <a:r>
              <a:rPr lang="en-US" sz="2000" dirty="0" smtClean="0"/>
              <a:t>An unmanaged node does not have a node or administrative agent to manage its server, whereas a managed node does.</a:t>
            </a:r>
          </a:p>
          <a:p>
            <a:r>
              <a:rPr lang="en-US" sz="2000" dirty="0" smtClean="0"/>
              <a:t>A stand-alone application server is an unmanaged node. The application server node become a managed node when it is either federated in to a cell or register with an administrative agent. </a:t>
            </a:r>
          </a:p>
          <a:p>
            <a:r>
              <a:rPr lang="en-US" sz="2000" dirty="0" smtClean="0"/>
              <a:t>When you create a managed mode by federating the application server node into a deployment mange cell, a node agent is automaticity created , the node agent process manages the application server configuration and server on the node. </a:t>
            </a:r>
            <a:endParaRPr lang="en-US"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pPr algn="l"/>
            <a:r>
              <a:t>Administrative Agent</a:t>
            </a:r>
          </a:p>
        </p:txBody>
      </p:sp>
      <p:sp>
        <p:nvSpPr>
          <p:cNvPr id="3" name="Content Placeholder 2"/>
          <p:cNvSpPr>
            <a:spLocks noGrp="1"/>
          </p:cNvSpPr>
          <p:nvPr>
            <p:ph idx="1"/>
          </p:nvPr>
        </p:nvSpPr>
        <p:spPr>
          <a:xfrm>
            <a:off x="246184" y="886265"/>
            <a:ext cx="8229600" cy="4525963"/>
          </a:xfrm>
        </p:spPr>
        <p:txBody>
          <a:bodyPr>
            <a:noAutofit/>
          </a:bodyPr>
          <a:lstStyle/>
          <a:p>
            <a:r>
              <a:rPr sz="2000"/>
              <a:t>The Administrative Agent provides centralized administration for standalone servers.</a:t>
            </a:r>
          </a:p>
          <a:p>
            <a:endParaRPr sz="2000"/>
          </a:p>
          <a:p>
            <a:r>
              <a:rPr sz="2000" smtClean="0"/>
              <a:t>Simplifies </a:t>
            </a:r>
            <a:r>
              <a:rPr sz="2000"/>
              <a:t>management of multiple application servers on one machine.</a:t>
            </a:r>
          </a:p>
          <a:p>
            <a:r>
              <a:rPr sz="2000" smtClean="0"/>
              <a:t>Allows </a:t>
            </a:r>
            <a:r>
              <a:rPr sz="2000"/>
              <a:t>administrative </a:t>
            </a:r>
            <a:r>
              <a:rPr sz="2000" smtClean="0"/>
              <a:t>operations </a:t>
            </a:r>
            <a:r>
              <a:rPr sz="2000"/>
              <a:t>such as start/stop and configuration</a:t>
            </a:r>
            <a:r>
              <a:rPr sz="2000" smtClean="0"/>
              <a:t>.</a:t>
            </a:r>
            <a:endParaRPr lang="en-US" sz="2000" dirty="0" smtClean="0"/>
          </a:p>
          <a:p>
            <a:r>
              <a:rPr lang="en-US" sz="2000" dirty="0" smtClean="0"/>
              <a:t>An admin agent provide a single web console to admin one or more nodes</a:t>
            </a:r>
          </a:p>
          <a:p>
            <a:r>
              <a:rPr lang="en-US" sz="2000" dirty="0" smtClean="0"/>
              <a:t>The Admin agent web console looks like very similar to the dmgr web console </a:t>
            </a:r>
          </a:p>
          <a:p>
            <a:r>
              <a:rPr lang="en-US" sz="2000" dirty="0" smtClean="0"/>
              <a:t>The administrative agent and application server must be on same machine , so you can only mange nodes that are on the same machine as the admin agent . Since the nodes must be on the same machine as the admin agent, the only scenario where it really make sense to user an admin agent is when you have two or more nodes on a machine </a:t>
            </a:r>
          </a:p>
          <a:p>
            <a:r>
              <a:rPr lang="en-US" sz="2000" dirty="0" smtClean="0"/>
              <a:t>A Dmgr can mange nodes on different machines, so you would use a dmgr when you need a singe management console for nodes on different machine </a:t>
            </a:r>
            <a:endParaRPr sz="20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113</TotalTime>
  <Words>1226</Words>
  <Application>Microsoft Macintosh PowerPoint</Application>
  <PresentationFormat>On-screen Show (4:3)</PresentationFormat>
  <Paragraphs>93</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IBM WebSphere Core Components </vt:lpstr>
      <vt:lpstr>Profile</vt:lpstr>
      <vt:lpstr>Cell and Domain</vt:lpstr>
      <vt:lpstr>Network Deployment Manager</vt:lpstr>
      <vt:lpstr>Admin Console </vt:lpstr>
      <vt:lpstr>Slide 6</vt:lpstr>
      <vt:lpstr>Standalone Application Server or App Server or Managed Server  </vt:lpstr>
      <vt:lpstr>Slide 8</vt:lpstr>
      <vt:lpstr>Cluster</vt:lpstr>
      <vt:lpstr>Go to Servers &gt; Clusters &gt; WebSphere application server clusters. </vt:lpstr>
      <vt:lpstr>Node</vt:lpstr>
      <vt:lpstr>Federation </vt:lpstr>
      <vt:lpstr>Node Agent (created Automatically when you create Node)</vt:lpstr>
      <vt:lpstr>Managed and Unmanaged nodes</vt:lpstr>
      <vt:lpstr>Administrative Agent</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WebSphere Core  Components </dc:title>
  <dc:subject/>
  <dc:creator/>
  <cp:keywords/>
  <dc:description>generated using python-pptx</dc:description>
  <cp:lastModifiedBy>Tanaji Bajgire</cp:lastModifiedBy>
  <cp:revision>31</cp:revision>
  <dcterms:created xsi:type="dcterms:W3CDTF">2013-01-27T09:14:16Z</dcterms:created>
  <dcterms:modified xsi:type="dcterms:W3CDTF">2025-10-31T09:09:41Z</dcterms:modified>
  <cp:category/>
</cp:coreProperties>
</file>