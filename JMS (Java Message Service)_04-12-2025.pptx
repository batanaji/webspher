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0" r:id="rId4"/>
    <p:sldId id="264" r:id="rId5"/>
    <p:sldId id="261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123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636A8C-3149-4504-9E98-A5F8E3CDE7A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E5C30E-0907-480D-A4FE-4FE7F06EAD5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E5C30E-0907-480D-A4FE-4FE7F06EAD56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1E6A3-FC1E-4240-81A1-FFAFF500CDD0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3A03-74AD-4852-B371-4752BF4736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1E6A3-FC1E-4240-81A1-FFAFF500CDD0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3A03-74AD-4852-B371-4752BF4736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1E6A3-FC1E-4240-81A1-FFAFF500CDD0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3A03-74AD-4852-B371-4752BF4736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1E6A3-FC1E-4240-81A1-FFAFF500CDD0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3A03-74AD-4852-B371-4752BF4736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1E6A3-FC1E-4240-81A1-FFAFF500CDD0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3A03-74AD-4852-B371-4752BF4736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1E6A3-FC1E-4240-81A1-FFAFF500CDD0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3A03-74AD-4852-B371-4752BF4736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1E6A3-FC1E-4240-81A1-FFAFF500CDD0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3A03-74AD-4852-B371-4752BF4736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1E6A3-FC1E-4240-81A1-FFAFF500CDD0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3A03-74AD-4852-B371-4752BF4736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1E6A3-FC1E-4240-81A1-FFAFF500CDD0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3A03-74AD-4852-B371-4752BF4736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1E6A3-FC1E-4240-81A1-FFAFF500CDD0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3A03-74AD-4852-B371-4752BF4736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1E6A3-FC1E-4240-81A1-FFAFF500CDD0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93A03-74AD-4852-B371-4752BF4736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B1E6A3-FC1E-4240-81A1-FFAFF500CDD0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293A03-74AD-4852-B371-4752BF4736A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2910" y="357166"/>
            <a:ext cx="7772400" cy="928693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/>
              <a:t>JMS (Java massaging </a:t>
            </a:r>
            <a:r>
              <a:rPr lang="en-US" sz="3600" dirty="0" smtClean="0"/>
              <a:t>service)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7158" y="1428736"/>
            <a:ext cx="8786842" cy="4210064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1800" dirty="0" smtClean="0"/>
              <a:t>Service Integration Bus (SIB) : JMS provider </a:t>
            </a:r>
          </a:p>
          <a:p>
            <a:pPr algn="l"/>
            <a:r>
              <a:rPr lang="en-US" sz="1800" dirty="0" smtClean="0"/>
              <a:t>To grasp the concept of a service integration bus (SIB)  its beneficial to </a:t>
            </a:r>
            <a:r>
              <a:rPr lang="en-US" sz="1800" dirty="0" smtClean="0"/>
              <a:t>first </a:t>
            </a:r>
            <a:r>
              <a:rPr lang="en-US" sz="1800" dirty="0" smtClean="0"/>
              <a:t>understand how data transmission occurs without utilization a service Integration Bus </a:t>
            </a:r>
          </a:p>
          <a:p>
            <a:pPr algn="l"/>
            <a:endParaRPr lang="en-US" sz="1800" dirty="0"/>
          </a:p>
          <a:p>
            <a:pPr marL="342900" indent="-342900" algn="l">
              <a:buAutoNum type="arabicPeriod"/>
            </a:pPr>
            <a:r>
              <a:rPr lang="en-US" sz="1800" dirty="0" smtClean="0"/>
              <a:t>In this very simple diagram the sending</a:t>
            </a:r>
          </a:p>
          <a:p>
            <a:pPr marL="342900" indent="-342900" algn="l"/>
            <a:r>
              <a:rPr lang="en-US" sz="1800" dirty="0" smtClean="0"/>
              <a:t> </a:t>
            </a:r>
            <a:r>
              <a:rPr lang="en-US" sz="1800" dirty="0" smtClean="0"/>
              <a:t>services </a:t>
            </a:r>
            <a:r>
              <a:rPr lang="en-US" sz="1800" dirty="0" smtClean="0"/>
              <a:t>sends data to the receiving </a:t>
            </a:r>
            <a:r>
              <a:rPr lang="en-US" sz="1800" dirty="0" smtClean="0"/>
              <a:t>service,</a:t>
            </a:r>
            <a:endParaRPr lang="en-US" sz="1800" dirty="0" smtClean="0"/>
          </a:p>
          <a:p>
            <a:pPr marL="342900" indent="-342900" algn="l"/>
            <a:r>
              <a:rPr lang="en-US" sz="1800" dirty="0" smtClean="0"/>
              <a:t> like an Emil or an SMS message.</a:t>
            </a:r>
          </a:p>
          <a:p>
            <a:pPr marL="342900" indent="-342900" algn="l"/>
            <a:r>
              <a:rPr lang="en-US" sz="1800" dirty="0" smtClean="0"/>
              <a:t>2. While this works , it can lead to problems</a:t>
            </a:r>
          </a:p>
          <a:p>
            <a:pPr marL="342900" indent="-342900" algn="l"/>
            <a:r>
              <a:rPr lang="en-US" sz="1800" dirty="0" smtClean="0"/>
              <a:t>     </a:t>
            </a:r>
          </a:p>
          <a:p>
            <a:pPr marL="342900" indent="-342900" algn="l"/>
            <a:r>
              <a:rPr lang="en-US" sz="1800" dirty="0" smtClean="0"/>
              <a:t>	a. If the receiving </a:t>
            </a:r>
            <a:r>
              <a:rPr lang="en-US" sz="1800" dirty="0" smtClean="0"/>
              <a:t>service </a:t>
            </a:r>
            <a:r>
              <a:rPr lang="en-US" sz="1800" dirty="0" smtClean="0"/>
              <a:t>is down or too </a:t>
            </a:r>
          </a:p>
          <a:p>
            <a:pPr marL="342900" indent="-342900" algn="l"/>
            <a:r>
              <a:rPr lang="en-US" sz="1800" dirty="0" smtClean="0"/>
              <a:t>           Busy the sending </a:t>
            </a:r>
            <a:r>
              <a:rPr lang="en-US" sz="1800" dirty="0" smtClean="0"/>
              <a:t>service </a:t>
            </a:r>
            <a:r>
              <a:rPr lang="en-US" sz="1800" dirty="0" smtClean="0"/>
              <a:t>might not move </a:t>
            </a:r>
          </a:p>
          <a:p>
            <a:pPr marL="342900" indent="-342900" algn="l"/>
            <a:r>
              <a:rPr lang="en-US" sz="1800" dirty="0" smtClean="0"/>
              <a:t>           on the next task or keep trying to send the data, wasting resources.</a:t>
            </a:r>
          </a:p>
          <a:p>
            <a:pPr marL="342900" indent="-342900" algn="l"/>
            <a:r>
              <a:rPr lang="en-US" sz="1800" dirty="0" smtClean="0"/>
              <a:t>      b. A services Integration Bus solves this issues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0" y="2571744"/>
            <a:ext cx="4319585" cy="184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214422"/>
            <a:ext cx="9429816" cy="491174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800" dirty="0" smtClean="0"/>
              <a:t>Service Integration Bus (SIB) : JMS provider </a:t>
            </a:r>
            <a:endParaRPr lang="en-US" sz="1400" dirty="0"/>
          </a:p>
          <a:p>
            <a:pPr>
              <a:buNone/>
            </a:pPr>
            <a:r>
              <a:rPr lang="en-US" sz="1400" dirty="0" smtClean="0"/>
              <a:t> 1. </a:t>
            </a:r>
            <a:r>
              <a:rPr lang="en-US" sz="1800" dirty="0" smtClean="0"/>
              <a:t>Imagine you have web based application that writes to a </a:t>
            </a:r>
          </a:p>
          <a:p>
            <a:pPr>
              <a:buNone/>
            </a:pPr>
            <a:r>
              <a:rPr lang="en-US" sz="1800" dirty="0" smtClean="0"/>
              <a:t>    database during peak time, million of write requests</a:t>
            </a:r>
          </a:p>
          <a:p>
            <a:pPr>
              <a:buNone/>
            </a:pPr>
            <a:r>
              <a:rPr lang="en-US" sz="1800" dirty="0" smtClean="0"/>
              <a:t>     might cause significant latency</a:t>
            </a:r>
          </a:p>
          <a:p>
            <a:pPr>
              <a:buNone/>
            </a:pPr>
            <a:r>
              <a:rPr lang="en-US" sz="1800" dirty="0" smtClean="0"/>
              <a:t>2. In the worst-case scenario, this could   </a:t>
            </a:r>
          </a:p>
          <a:p>
            <a:pPr>
              <a:buNone/>
            </a:pPr>
            <a:r>
              <a:rPr lang="en-US" sz="1800" dirty="0" smtClean="0"/>
              <a:t>    lead to webs app loading endlessly,</a:t>
            </a:r>
          </a:p>
          <a:p>
            <a:pPr>
              <a:buNone/>
            </a:pPr>
            <a:r>
              <a:rPr lang="en-US" sz="1800" dirty="0" smtClean="0"/>
              <a:t>    failing to load, returning timeout error, </a:t>
            </a:r>
          </a:p>
          <a:p>
            <a:pPr>
              <a:buNone/>
            </a:pPr>
            <a:r>
              <a:rPr lang="en-US" sz="1800" dirty="0" smtClean="0"/>
              <a:t>    Or displaying various errors not good. </a:t>
            </a:r>
          </a:p>
          <a:p>
            <a:pPr>
              <a:buNone/>
            </a:pPr>
            <a:r>
              <a:rPr lang="en-US" sz="1800" dirty="0" smtClean="0"/>
              <a:t>3. Enter the message Queue?</a:t>
            </a:r>
          </a:p>
          <a:p>
            <a:pPr>
              <a:buNone/>
            </a:pPr>
            <a:r>
              <a:rPr lang="en-US" sz="1800" dirty="0" smtClean="0"/>
              <a:t>4. The web application can publish </a:t>
            </a:r>
            <a:r>
              <a:rPr lang="en-US" sz="1800" dirty="0" err="1" smtClean="0"/>
              <a:t>messag</a:t>
            </a:r>
            <a:r>
              <a:rPr lang="en-US" sz="1800" dirty="0" smtClean="0"/>
              <a:t> to queue , </a:t>
            </a:r>
          </a:p>
          <a:p>
            <a:pPr>
              <a:buNone/>
            </a:pPr>
            <a:r>
              <a:rPr lang="en-US" sz="1800" dirty="0" smtClean="0"/>
              <a:t>    and the database can them consume there message </a:t>
            </a:r>
          </a:p>
          <a:p>
            <a:pPr>
              <a:buNone/>
            </a:pPr>
            <a:r>
              <a:rPr lang="en-US" sz="1800" dirty="0" smtClean="0"/>
              <a:t>5. This is an example of the </a:t>
            </a:r>
            <a:r>
              <a:rPr lang="en-US" sz="1800" dirty="0" smtClean="0"/>
              <a:t>publish/</a:t>
            </a:r>
            <a:r>
              <a:rPr lang="en-US" sz="1800" dirty="0" err="1" smtClean="0"/>
              <a:t>subscr</a:t>
            </a:r>
            <a:r>
              <a:rPr lang="en-US" sz="1800" dirty="0" smtClean="0"/>
              <a:t>	</a:t>
            </a:r>
            <a:r>
              <a:rPr lang="en-US" sz="1800" dirty="0" err="1" smtClean="0"/>
              <a:t>ibe</a:t>
            </a:r>
            <a:r>
              <a:rPr lang="en-US" sz="1800" dirty="0" smtClean="0"/>
              <a:t> </a:t>
            </a:r>
            <a:r>
              <a:rPr lang="en-US" sz="1800" dirty="0" smtClean="0"/>
              <a:t>(pub/sub)</a:t>
            </a:r>
          </a:p>
          <a:p>
            <a:pPr>
              <a:buNone/>
            </a:pPr>
            <a:r>
              <a:rPr lang="en-US" sz="1800" dirty="0"/>
              <a:t> </a:t>
            </a:r>
            <a:r>
              <a:rPr lang="en-US" sz="1800" dirty="0" smtClean="0"/>
              <a:t>    architecture, where the web app publishes message to the</a:t>
            </a:r>
          </a:p>
          <a:p>
            <a:pPr>
              <a:buNone/>
            </a:pPr>
            <a:r>
              <a:rPr lang="en-US" sz="1800" dirty="0" smtClean="0"/>
              <a:t>     Queue , and the database subscribes to it. 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 smtClean="0"/>
              <a:t>JMS (Java massaging </a:t>
            </a:r>
            <a:r>
              <a:rPr lang="en-US" sz="3600" dirty="0" smtClean="0"/>
              <a:t>service) </a:t>
            </a:r>
            <a:r>
              <a:rPr lang="en-US" sz="3600" dirty="0" smtClean="0"/>
              <a:t>Queue</a:t>
            </a:r>
            <a:endParaRPr lang="en-US" sz="3600" dirty="0"/>
          </a:p>
        </p:txBody>
      </p:sp>
      <p:pic>
        <p:nvPicPr>
          <p:cNvPr id="11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72116" y="2000240"/>
            <a:ext cx="3571884" cy="1547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43570" y="4000504"/>
            <a:ext cx="4286280" cy="170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2910" y="357166"/>
            <a:ext cx="7772400" cy="928693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/>
              <a:t>JMS (Java massaging </a:t>
            </a:r>
            <a:r>
              <a:rPr lang="en-US" sz="3600" dirty="0" smtClean="0"/>
              <a:t>service) </a:t>
            </a:r>
            <a:r>
              <a:rPr lang="en-US" sz="3600" dirty="0" smtClean="0"/>
              <a:t>SIB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7158" y="1428736"/>
            <a:ext cx="8786842" cy="5429264"/>
          </a:xfrm>
        </p:spPr>
        <p:txBody>
          <a:bodyPr>
            <a:normAutofit/>
          </a:bodyPr>
          <a:lstStyle/>
          <a:p>
            <a:pPr algn="l"/>
            <a:r>
              <a:rPr lang="en-US" sz="1800" dirty="0" smtClean="0"/>
              <a:t>Service Integration Bus (SIB) : JMS provider </a:t>
            </a:r>
          </a:p>
          <a:p>
            <a:pPr algn="l"/>
            <a:r>
              <a:rPr lang="en-US" sz="1800" dirty="0" smtClean="0"/>
              <a:t>A service Integration Bus act as broker or proxy between </a:t>
            </a:r>
          </a:p>
          <a:p>
            <a:pPr algn="l"/>
            <a:r>
              <a:rPr lang="en-US" sz="1800" dirty="0" smtClean="0"/>
              <a:t>the sending and receiving </a:t>
            </a:r>
            <a:r>
              <a:rPr lang="en-US" sz="1800" dirty="0" smtClean="0"/>
              <a:t>services </a:t>
            </a:r>
            <a:endParaRPr lang="en-US" sz="1800" dirty="0" smtClean="0"/>
          </a:p>
          <a:p>
            <a:pPr algn="l"/>
            <a:endParaRPr lang="en-US" sz="1800" dirty="0" smtClean="0"/>
          </a:p>
          <a:p>
            <a:pPr marL="342900" indent="-342900" algn="l"/>
            <a:r>
              <a:rPr lang="en-US" sz="1800" dirty="0" smtClean="0"/>
              <a:t>This setup prevent the sending </a:t>
            </a:r>
            <a:r>
              <a:rPr lang="en-US" sz="1800" dirty="0" smtClean="0"/>
              <a:t>service </a:t>
            </a:r>
            <a:r>
              <a:rPr lang="en-US" sz="1800" dirty="0" smtClean="0"/>
              <a:t>form </a:t>
            </a:r>
          </a:p>
          <a:p>
            <a:pPr marL="342900" indent="-342900" algn="l"/>
            <a:r>
              <a:rPr lang="en-US" sz="1800" dirty="0" smtClean="0"/>
              <a:t>Getting stuck if the receiving </a:t>
            </a:r>
            <a:r>
              <a:rPr lang="en-US" sz="1800" dirty="0" smtClean="0"/>
              <a:t>service </a:t>
            </a:r>
            <a:r>
              <a:rPr lang="en-US" sz="1800" dirty="0" smtClean="0"/>
              <a:t>is unavailable, </a:t>
            </a:r>
          </a:p>
          <a:p>
            <a:pPr marL="342900" indent="-342900" algn="l"/>
            <a:r>
              <a:rPr lang="en-US" sz="1800" dirty="0" smtClean="0"/>
              <a:t>Instead of repeatedly trying to send the data </a:t>
            </a:r>
          </a:p>
          <a:p>
            <a:pPr marL="342900" indent="-342900" algn="l"/>
            <a:r>
              <a:rPr lang="en-US" sz="1800" dirty="0" smtClean="0"/>
              <a:t>The sending </a:t>
            </a:r>
            <a:r>
              <a:rPr lang="en-US" sz="1800" dirty="0" smtClean="0"/>
              <a:t>service </a:t>
            </a:r>
            <a:r>
              <a:rPr lang="en-US" sz="1800" dirty="0" smtClean="0"/>
              <a:t>transmit it to the SIB and move on (fire and forget)</a:t>
            </a:r>
          </a:p>
          <a:p>
            <a:pPr marL="342900" indent="-342900" algn="l"/>
            <a:endParaRPr lang="en-US" sz="1800" dirty="0"/>
          </a:p>
          <a:p>
            <a:pPr marL="342900" indent="-342900" algn="l"/>
            <a:r>
              <a:rPr lang="en-US" sz="1800" dirty="0" smtClean="0"/>
              <a:t>This approached allows for asynchronous data transmission </a:t>
            </a:r>
          </a:p>
          <a:p>
            <a:pPr marL="342900" indent="-342900" algn="l"/>
            <a:endParaRPr lang="en-US" sz="1800" dirty="0"/>
          </a:p>
          <a:p>
            <a:pPr marL="342900" indent="-342900" algn="l"/>
            <a:r>
              <a:rPr lang="en-US" sz="1800" dirty="0" smtClean="0"/>
              <a:t>You may encounter different terms user for the </a:t>
            </a:r>
            <a:r>
              <a:rPr lang="en-US" sz="1800" dirty="0" smtClean="0"/>
              <a:t>service</a:t>
            </a:r>
            <a:endParaRPr lang="en-US" sz="1800" dirty="0" smtClean="0"/>
          </a:p>
          <a:p>
            <a:pPr marL="342900" indent="-342900" algn="l"/>
            <a:r>
              <a:rPr lang="en-US" sz="1800" dirty="0" smtClean="0"/>
              <a:t> in a messaging hierarchy 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81150" y="2000240"/>
            <a:ext cx="4062850" cy="14430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72132" y="4857750"/>
            <a:ext cx="5543550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57166"/>
            <a:ext cx="8415310" cy="928693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/>
              <a:t>JMS (Java massaging </a:t>
            </a:r>
            <a:r>
              <a:rPr lang="en-US" sz="3600" dirty="0" smtClean="0"/>
              <a:t>service) </a:t>
            </a:r>
            <a:r>
              <a:rPr lang="en-US" sz="3600" dirty="0" smtClean="0"/>
              <a:t>Store 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071546"/>
            <a:ext cx="9144000" cy="5643578"/>
          </a:xfrm>
        </p:spPr>
        <p:txBody>
          <a:bodyPr>
            <a:normAutofit/>
          </a:bodyPr>
          <a:lstStyle/>
          <a:p>
            <a:pPr algn="l"/>
            <a:r>
              <a:rPr lang="en-US" sz="1800" dirty="0" smtClean="0"/>
              <a:t>Service Integration Bus (SIB) : JMS provider </a:t>
            </a:r>
          </a:p>
          <a:p>
            <a:pPr algn="l">
              <a:buFont typeface="Arial" pitchFamily="34" charset="0"/>
              <a:buChar char="•"/>
            </a:pPr>
            <a:r>
              <a:rPr lang="en-US" sz="1800" dirty="0" smtClean="0"/>
              <a:t> A services Integration  Bus consist of one or more </a:t>
            </a:r>
          </a:p>
          <a:p>
            <a:pPr algn="l"/>
            <a:r>
              <a:rPr lang="en-US" sz="1800" dirty="0"/>
              <a:t> </a:t>
            </a:r>
            <a:r>
              <a:rPr lang="en-US" sz="1800" dirty="0" smtClean="0"/>
              <a:t> Websphere Application Servers, which can be part </a:t>
            </a:r>
          </a:p>
          <a:p>
            <a:pPr algn="l"/>
            <a:r>
              <a:rPr lang="en-US" sz="1800" dirty="0" smtClean="0"/>
              <a:t>  Of a static or dynamic cluster, or IBM MQ server </a:t>
            </a:r>
          </a:p>
          <a:p>
            <a:pPr algn="l"/>
            <a:endParaRPr lang="en-US" sz="1800" dirty="0"/>
          </a:p>
          <a:p>
            <a:pPr algn="l">
              <a:buFont typeface="Arial" pitchFamily="34" charset="0"/>
              <a:buChar char="•"/>
            </a:pPr>
            <a:r>
              <a:rPr lang="en-US" sz="1800" dirty="0" smtClean="0"/>
              <a:t> These servers knows as bus members,</a:t>
            </a:r>
          </a:p>
          <a:p>
            <a:pPr algn="l"/>
            <a:r>
              <a:rPr lang="en-US" sz="1800" dirty="0" smtClean="0"/>
              <a:t>Include a messaging engine component used to </a:t>
            </a:r>
          </a:p>
          <a:p>
            <a:pPr algn="l"/>
            <a:r>
              <a:rPr lang="en-US" sz="1800" dirty="0" smtClean="0"/>
              <a:t>Send and receive messages </a:t>
            </a:r>
          </a:p>
          <a:p>
            <a:pPr algn="l"/>
            <a:endParaRPr lang="en-US" sz="1800" dirty="0"/>
          </a:p>
          <a:p>
            <a:pPr algn="l">
              <a:buFont typeface="Arial" pitchFamily="34" charset="0"/>
              <a:buChar char="•"/>
            </a:pPr>
            <a:r>
              <a:rPr lang="en-US" sz="1800" dirty="0" smtClean="0"/>
              <a:t>The messaging engine store messages in s message </a:t>
            </a:r>
          </a:p>
          <a:p>
            <a:pPr algn="l"/>
            <a:r>
              <a:rPr lang="en-US" sz="1800" dirty="0" smtClean="0"/>
              <a:t>Store, where the remain until the consume application </a:t>
            </a:r>
          </a:p>
          <a:p>
            <a:pPr algn="l"/>
            <a:r>
              <a:rPr lang="en-US" sz="1800" dirty="0" smtClean="0"/>
              <a:t>Is ready to receive the. </a:t>
            </a:r>
          </a:p>
          <a:p>
            <a:pPr algn="l">
              <a:buFont typeface="Arial" pitchFamily="34" charset="0"/>
              <a:buChar char="•"/>
            </a:pPr>
            <a:r>
              <a:rPr lang="en-US" sz="1800" dirty="0"/>
              <a:t> </a:t>
            </a:r>
            <a:r>
              <a:rPr lang="en-US" sz="1800" dirty="0" smtClean="0"/>
              <a:t>The message can be store can be a file on the server</a:t>
            </a:r>
          </a:p>
          <a:p>
            <a:pPr algn="l"/>
            <a:r>
              <a:rPr lang="en-US" sz="1800" dirty="0" smtClean="0"/>
              <a:t>or a database </a:t>
            </a:r>
            <a:endParaRPr lang="en-US" sz="1800" dirty="0"/>
          </a:p>
          <a:p>
            <a:pPr algn="l"/>
            <a:endParaRPr lang="en-US" sz="1800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00562" y="2428868"/>
            <a:ext cx="4400550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57166"/>
            <a:ext cx="8415310" cy="928693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 smtClean="0"/>
              <a:t>JMS (Java massaging </a:t>
            </a:r>
            <a:r>
              <a:rPr lang="en-US" sz="3600" dirty="0" smtClean="0"/>
              <a:t>service) </a:t>
            </a:r>
            <a:r>
              <a:rPr lang="en-US" sz="3600" dirty="0" smtClean="0"/>
              <a:t>SIB High Availability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214422"/>
            <a:ext cx="9144000" cy="5643578"/>
          </a:xfrm>
        </p:spPr>
        <p:txBody>
          <a:bodyPr>
            <a:normAutofit/>
          </a:bodyPr>
          <a:lstStyle/>
          <a:p>
            <a:pPr algn="l"/>
            <a:r>
              <a:rPr lang="en-US" sz="1800" dirty="0" smtClean="0"/>
              <a:t>Service Integration Bus (SIB) : JMS provider </a:t>
            </a:r>
          </a:p>
          <a:p>
            <a:pPr algn="l">
              <a:buFont typeface="Arial" pitchFamily="34" charset="0"/>
              <a:buChar char="•"/>
            </a:pPr>
            <a:r>
              <a:rPr lang="en-US" sz="1800" dirty="0" smtClean="0"/>
              <a:t> Given the SIB’s crucial role in message deliver, </a:t>
            </a:r>
          </a:p>
          <a:p>
            <a:pPr algn="l"/>
            <a:r>
              <a:rPr lang="en-US" sz="1800" dirty="0" smtClean="0"/>
              <a:t>It is essential to ensure its high availability.</a:t>
            </a:r>
          </a:p>
          <a:p>
            <a:pPr algn="l"/>
            <a:endParaRPr lang="en-US" sz="1800" dirty="0"/>
          </a:p>
          <a:p>
            <a:pPr algn="l">
              <a:buFont typeface="Arial" pitchFamily="34" charset="0"/>
              <a:buChar char="•"/>
            </a:pPr>
            <a:r>
              <a:rPr lang="en-US" sz="1800" dirty="0" smtClean="0"/>
              <a:t> Ideally, the SIB should not experience any </a:t>
            </a:r>
          </a:p>
          <a:p>
            <a:pPr algn="l"/>
            <a:r>
              <a:rPr lang="en-US" sz="1800" dirty="0" smtClean="0"/>
              <a:t>downtime, </a:t>
            </a:r>
            <a:r>
              <a:rPr lang="en-US" sz="1800" dirty="0" smtClean="0"/>
              <a:t>to achieve this ,it’s recommended</a:t>
            </a:r>
          </a:p>
          <a:p>
            <a:pPr algn="l"/>
            <a:r>
              <a:rPr lang="en-US" sz="1800" dirty="0" smtClean="0"/>
              <a:t>to setup a cluster of application servers as SIB</a:t>
            </a:r>
          </a:p>
          <a:p>
            <a:pPr algn="l"/>
            <a:r>
              <a:rPr lang="en-US" sz="1800" dirty="0" smtClean="0"/>
              <a:t>Members.</a:t>
            </a:r>
          </a:p>
          <a:p>
            <a:pPr algn="l"/>
            <a:endParaRPr lang="en-US" sz="1800" dirty="0"/>
          </a:p>
          <a:p>
            <a:pPr algn="l">
              <a:buFont typeface="Arial" pitchFamily="34" charset="0"/>
              <a:buChar char="•"/>
            </a:pPr>
            <a:r>
              <a:rPr lang="en-US" sz="1800" dirty="0"/>
              <a:t> </a:t>
            </a:r>
            <a:r>
              <a:rPr lang="en-US" sz="1800" dirty="0" smtClean="0"/>
              <a:t>This way, if one cluster member goes down,</a:t>
            </a:r>
          </a:p>
          <a:p>
            <a:pPr algn="l"/>
            <a:r>
              <a:rPr lang="en-US" sz="1800" dirty="0" smtClean="0"/>
              <a:t> the other member can continue processing messages.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29124" y="2071678"/>
            <a:ext cx="4419600" cy="176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57166"/>
            <a:ext cx="8415310" cy="928693"/>
          </a:xfrm>
        </p:spPr>
        <p:txBody>
          <a:bodyPr>
            <a:normAutofit/>
          </a:bodyPr>
          <a:lstStyle/>
          <a:p>
            <a:pPr algn="l"/>
            <a:r>
              <a:rPr lang="en-US" sz="2000" dirty="0" smtClean="0"/>
              <a:t>JMS (Java massaging </a:t>
            </a:r>
            <a:r>
              <a:rPr lang="en-US" sz="2000" dirty="0" smtClean="0"/>
              <a:t>service) </a:t>
            </a:r>
            <a:r>
              <a:rPr lang="en-US" sz="2000" dirty="0" smtClean="0"/>
              <a:t>Configure Services Integration Bus (SIB)</a:t>
            </a:r>
            <a:endParaRPr lang="en-US" sz="2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214422"/>
            <a:ext cx="9144000" cy="5643578"/>
          </a:xfrm>
        </p:spPr>
        <p:txBody>
          <a:bodyPr>
            <a:norm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sz="1800" dirty="0" smtClean="0"/>
              <a:t>Create Service Integration Bus</a:t>
            </a:r>
          </a:p>
          <a:p>
            <a:pPr algn="l"/>
            <a:r>
              <a:rPr lang="en-US" sz="1800" dirty="0" smtClean="0"/>
              <a:t> In the Websphere Admin console,</a:t>
            </a:r>
          </a:p>
          <a:p>
            <a:pPr algn="l"/>
            <a:r>
              <a:rPr lang="en-US" sz="1800" dirty="0" smtClean="0"/>
              <a:t>Service Integration and select Buses</a:t>
            </a:r>
          </a:p>
          <a:p>
            <a:pPr algn="l">
              <a:buFont typeface="Arial" pitchFamily="34" charset="0"/>
              <a:buChar char="•"/>
            </a:pPr>
            <a:endParaRPr lang="en-US" sz="1800" dirty="0"/>
          </a:p>
          <a:p>
            <a:pPr algn="l">
              <a:buFont typeface="Arial" pitchFamily="34" charset="0"/>
              <a:buChar char="•"/>
            </a:pPr>
            <a:r>
              <a:rPr lang="en-US" sz="1800" dirty="0" smtClean="0"/>
              <a:t>Select new </a:t>
            </a:r>
          </a:p>
          <a:p>
            <a:pPr algn="l">
              <a:buFont typeface="Arial" pitchFamily="34" charset="0"/>
              <a:buChar char="•"/>
            </a:pPr>
            <a:endParaRPr lang="en-US" sz="1800" dirty="0"/>
          </a:p>
          <a:p>
            <a:pPr algn="l">
              <a:buFont typeface="Arial" pitchFamily="34" charset="0"/>
              <a:buChar char="•"/>
            </a:pPr>
            <a:r>
              <a:rPr lang="en-US" sz="1800" dirty="0" smtClean="0"/>
              <a:t>Give the SIB a name and select next</a:t>
            </a:r>
          </a:p>
          <a:p>
            <a:pPr algn="l">
              <a:buFont typeface="Arial" pitchFamily="34" charset="0"/>
              <a:buChar char="•"/>
            </a:pPr>
            <a:endParaRPr lang="en-US" sz="1800" dirty="0"/>
          </a:p>
          <a:p>
            <a:pPr algn="l">
              <a:buFont typeface="Arial" pitchFamily="34" charset="0"/>
              <a:buChar char="•"/>
            </a:pPr>
            <a:r>
              <a:rPr lang="en-US" sz="1800" dirty="0" smtClean="0"/>
              <a:t>For the remaining prompts select next and the</a:t>
            </a:r>
          </a:p>
          <a:p>
            <a:pPr algn="l"/>
            <a:r>
              <a:rPr lang="en-US" sz="1800" dirty="0" smtClean="0"/>
              <a:t> finish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57752" y="1000108"/>
            <a:ext cx="3929122" cy="3522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29190" y="3500438"/>
            <a:ext cx="4214810" cy="2357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282" y="4562475"/>
            <a:ext cx="4391025" cy="229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57166"/>
            <a:ext cx="8415310" cy="928693"/>
          </a:xfrm>
        </p:spPr>
        <p:txBody>
          <a:bodyPr>
            <a:normAutofit/>
          </a:bodyPr>
          <a:lstStyle/>
          <a:p>
            <a:pPr algn="l"/>
            <a:r>
              <a:rPr lang="en-US" sz="2000" dirty="0" smtClean="0"/>
              <a:t>JMS (Java massaging </a:t>
            </a:r>
            <a:r>
              <a:rPr lang="en-US" sz="2000" dirty="0" smtClean="0"/>
              <a:t>service)</a:t>
            </a:r>
            <a:endParaRPr lang="en-US" sz="2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214422"/>
            <a:ext cx="9144000" cy="5643578"/>
          </a:xfrm>
        </p:spPr>
        <p:txBody>
          <a:bodyPr>
            <a:norm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sz="1800" dirty="0" smtClean="0"/>
              <a:t>Services Integration Bus : JMS Provide</a:t>
            </a:r>
          </a:p>
          <a:p>
            <a:pPr algn="l"/>
            <a:endParaRPr lang="en-US" sz="1800" dirty="0" smtClean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785927"/>
            <a:ext cx="6646481" cy="292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/>
          </a:bodyPr>
          <a:lstStyle/>
          <a:p>
            <a:pPr algn="l"/>
            <a:r>
              <a:rPr lang="en-US" sz="2000" dirty="0" smtClean="0"/>
              <a:t>JMS (Java massaging </a:t>
            </a:r>
            <a:r>
              <a:rPr lang="en-US" sz="2000" dirty="0" smtClean="0"/>
              <a:t>service) </a:t>
            </a:r>
            <a:r>
              <a:rPr lang="en-US" sz="2000" dirty="0" smtClean="0"/>
              <a:t>JMS Provider</a:t>
            </a:r>
            <a:endParaRPr lang="en-US" sz="2000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85720" y="3857628"/>
            <a:ext cx="7358114" cy="264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785794"/>
            <a:ext cx="7581900" cy="2857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85728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2000" dirty="0" smtClean="0"/>
              <a:t>JMS (Java massaging </a:t>
            </a:r>
            <a:r>
              <a:rPr lang="en-US" sz="2000" dirty="0" smtClean="0"/>
              <a:t>service) </a:t>
            </a:r>
            <a:r>
              <a:rPr lang="en-US" sz="2000" dirty="0" smtClean="0"/>
              <a:t>JMS Provider</a:t>
            </a:r>
            <a:br>
              <a:rPr lang="en-US" sz="2000" dirty="0" smtClean="0"/>
            </a:br>
            <a:r>
              <a:rPr lang="en-US" sz="2000" dirty="0" smtClean="0"/>
              <a:t>Service Integration Bus (SIB): JMS Provider</a:t>
            </a:r>
            <a:endParaRPr lang="en-US" sz="2000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57158" y="1643051"/>
            <a:ext cx="4837907" cy="2214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3929066"/>
            <a:ext cx="4786346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85728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2000" dirty="0" smtClean="0"/>
              <a:t>JMS (Java massaging </a:t>
            </a:r>
            <a:r>
              <a:rPr lang="en-US" sz="2000" dirty="0" smtClean="0"/>
              <a:t>service) </a:t>
            </a:r>
            <a:r>
              <a:rPr lang="en-US" sz="2000" dirty="0" smtClean="0"/>
              <a:t>JMS Provider</a:t>
            </a:r>
            <a:br>
              <a:rPr lang="en-US" sz="2000" dirty="0" smtClean="0"/>
            </a:br>
            <a:endParaRPr lang="en-US" sz="1800" dirty="0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57158" y="1285860"/>
            <a:ext cx="6438900" cy="292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85728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2000" dirty="0" smtClean="0"/>
              <a:t>JMS (Java massaging </a:t>
            </a:r>
            <a:r>
              <a:rPr lang="en-US" sz="2000" dirty="0" smtClean="0"/>
              <a:t>service) </a:t>
            </a:r>
            <a:r>
              <a:rPr lang="en-US" sz="2000" dirty="0" smtClean="0"/>
              <a:t>Add Bus member </a:t>
            </a:r>
            <a:endParaRPr lang="en-US" sz="18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0" y="1214422"/>
            <a:ext cx="8686800" cy="4911741"/>
          </a:xfrm>
        </p:spPr>
        <p:txBody>
          <a:bodyPr/>
          <a:lstStyle/>
          <a:p>
            <a:r>
              <a:rPr lang="en-US" sz="1800" dirty="0" smtClean="0"/>
              <a:t>Services Integration Bus (SIB) </a:t>
            </a:r>
          </a:p>
          <a:p>
            <a:r>
              <a:rPr lang="en-US" sz="1800" dirty="0" smtClean="0"/>
              <a:t>Add Bus members </a:t>
            </a:r>
          </a:p>
          <a:p>
            <a:r>
              <a:rPr lang="en-US" sz="1800" dirty="0" smtClean="0"/>
              <a:t>An Application server, cluster, or MQ server that</a:t>
            </a:r>
          </a:p>
          <a:p>
            <a:pPr>
              <a:buNone/>
            </a:pPr>
            <a:r>
              <a:rPr lang="en-US" sz="1800" dirty="0" smtClean="0"/>
              <a:t>      a member of service Integration Bus is known as a bus </a:t>
            </a:r>
          </a:p>
          <a:p>
            <a:pPr>
              <a:buNone/>
            </a:pPr>
            <a:r>
              <a:rPr lang="en-US" sz="1800" dirty="0" smtClean="0"/>
              <a:t>      member </a:t>
            </a:r>
          </a:p>
          <a:p>
            <a:pPr>
              <a:buNone/>
            </a:pPr>
            <a:endParaRPr lang="en-US" sz="1800" dirty="0"/>
          </a:p>
          <a:p>
            <a:r>
              <a:rPr lang="en-US" sz="1800" dirty="0" smtClean="0"/>
              <a:t>In the left pane of the web console </a:t>
            </a:r>
          </a:p>
          <a:p>
            <a:pPr>
              <a:buNone/>
            </a:pPr>
            <a:r>
              <a:rPr lang="en-US" sz="1800" dirty="0" smtClean="0"/>
              <a:t>       Expand service integration and select Buses </a:t>
            </a:r>
          </a:p>
          <a:p>
            <a:r>
              <a:rPr lang="en-US" sz="1800" dirty="0" smtClean="0"/>
              <a:t>Select the Services integration Bus.</a:t>
            </a:r>
          </a:p>
          <a:p>
            <a:r>
              <a:rPr lang="en-US" sz="1800" dirty="0" smtClean="0"/>
              <a:t>Select Bus member </a:t>
            </a:r>
          </a:p>
          <a:p>
            <a:r>
              <a:rPr lang="en-US" sz="1800" dirty="0" smtClean="0"/>
              <a:t>Select Add</a:t>
            </a:r>
          </a:p>
          <a:p>
            <a:r>
              <a:rPr lang="en-US" sz="1800" dirty="0" smtClean="0"/>
              <a:t>Select a server, cluster, or MQ server and select next.</a:t>
            </a:r>
            <a:endParaRPr lang="en-US" sz="18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71770" y="857232"/>
            <a:ext cx="6586731" cy="3367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2000" dirty="0" smtClean="0"/>
              <a:t>JMS (Java massaging </a:t>
            </a:r>
            <a:r>
              <a:rPr lang="en-US" sz="2000" dirty="0" smtClean="0"/>
              <a:t>service) </a:t>
            </a:r>
            <a:r>
              <a:rPr lang="en-US" sz="2000" dirty="0" smtClean="0"/>
              <a:t>Add Bus member </a:t>
            </a:r>
            <a:endParaRPr lang="en-US" sz="200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42844" y="1071546"/>
            <a:ext cx="9001156" cy="5786454"/>
          </a:xfrm>
        </p:spPr>
        <p:txBody>
          <a:bodyPr>
            <a:normAutofit/>
          </a:bodyPr>
          <a:lstStyle/>
          <a:p>
            <a:r>
              <a:rPr lang="en-US" sz="1800" dirty="0" smtClean="0"/>
              <a:t>Select Members, in this example cluster selected.</a:t>
            </a:r>
            <a:endParaRPr lang="en-US" sz="1800" dirty="0"/>
          </a:p>
          <a:p>
            <a:endParaRPr lang="en-US" sz="1800" dirty="0" smtClean="0"/>
          </a:p>
          <a:p>
            <a:endParaRPr lang="en-US" sz="1800" dirty="0"/>
          </a:p>
          <a:p>
            <a:endParaRPr lang="en-US" sz="1800" dirty="0" smtClean="0"/>
          </a:p>
          <a:p>
            <a:endParaRPr lang="en-US" sz="1800" dirty="0"/>
          </a:p>
          <a:p>
            <a:endParaRPr lang="en-US" sz="1800" dirty="0" smtClean="0"/>
          </a:p>
          <a:p>
            <a:endParaRPr lang="en-US" sz="1800" dirty="0"/>
          </a:p>
          <a:p>
            <a:endParaRPr lang="en-US" sz="1800" dirty="0" smtClean="0"/>
          </a:p>
          <a:p>
            <a:endParaRPr lang="en-US" sz="1800" dirty="0"/>
          </a:p>
          <a:p>
            <a:r>
              <a:rPr lang="en-US" sz="1800" dirty="0" smtClean="0"/>
              <a:t>If you selected cluster , you will be prompted to select a messing engine policy, in this example , scalability with High availability</a:t>
            </a:r>
          </a:p>
          <a:p>
            <a:r>
              <a:rPr lang="en-US" sz="1800" dirty="0" smtClean="0"/>
              <a:t>The scalability with high availability selection ensure that each application server in the cluster has a messaging engine for failover support.  </a:t>
            </a:r>
          </a:p>
          <a:p>
            <a:endParaRPr lang="en-US" sz="1800" dirty="0" smtClean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9" y="1522343"/>
            <a:ext cx="6000791" cy="2282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42908" y="-189158"/>
            <a:ext cx="9929882" cy="6214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000" dirty="0" smtClean="0"/>
              <a:t>JMS (Java massaging </a:t>
            </a:r>
            <a:r>
              <a:rPr lang="en-US" sz="2000" dirty="0" smtClean="0"/>
              <a:t>service) </a:t>
            </a:r>
            <a:r>
              <a:rPr lang="en-US" sz="2000" dirty="0" smtClean="0"/>
              <a:t>Configure Database 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 smtClean="0"/>
              <a:t>Configure database </a:t>
            </a:r>
          </a:p>
          <a:p>
            <a:r>
              <a:rPr lang="en-US" sz="1800" dirty="0" smtClean="0"/>
              <a:t>Click on both store one by one and configure </a:t>
            </a:r>
          </a:p>
          <a:p>
            <a:endParaRPr lang="en-US" sz="18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66937" y="2386806"/>
            <a:ext cx="4810125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000" dirty="0" smtClean="0"/>
              <a:t>JMS (Java massaging </a:t>
            </a:r>
            <a:r>
              <a:rPr lang="en-US" sz="2000" dirty="0" smtClean="0"/>
              <a:t>service) </a:t>
            </a:r>
            <a:r>
              <a:rPr lang="en-US" sz="2000" dirty="0" smtClean="0"/>
              <a:t>Configure Database </a:t>
            </a:r>
            <a:endParaRPr lang="en-US" sz="2000" dirty="0"/>
          </a:p>
        </p:txBody>
      </p:sp>
      <p:pic>
        <p:nvPicPr>
          <p:cNvPr id="1741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57158" y="1571612"/>
            <a:ext cx="8747165" cy="392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000" dirty="0" smtClean="0"/>
              <a:t>JMS (Java massaging </a:t>
            </a:r>
            <a:r>
              <a:rPr lang="en-US" sz="2000" dirty="0" smtClean="0"/>
              <a:t>service) </a:t>
            </a:r>
            <a:r>
              <a:rPr lang="en-US" sz="2000" dirty="0" smtClean="0"/>
              <a:t>Configure Database </a:t>
            </a:r>
            <a:endParaRPr lang="en-US" sz="2000" dirty="0"/>
          </a:p>
        </p:txBody>
      </p:sp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28662" y="171525"/>
            <a:ext cx="5715040" cy="53862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000" dirty="0" smtClean="0"/>
              <a:t>JMS (Java massaging </a:t>
            </a:r>
            <a:r>
              <a:rPr lang="en-US" sz="2000" dirty="0" smtClean="0"/>
              <a:t>service) </a:t>
            </a:r>
            <a:r>
              <a:rPr lang="en-US" sz="2000" dirty="0" smtClean="0"/>
              <a:t>Configure Database </a:t>
            </a:r>
            <a:endParaRPr lang="en-US" sz="20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813" y="1709738"/>
            <a:ext cx="7572375" cy="343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000" dirty="0" smtClean="0"/>
              <a:t>JMS (Java massaging </a:t>
            </a:r>
            <a:r>
              <a:rPr lang="en-US" sz="2000" dirty="0" smtClean="0"/>
              <a:t>service) </a:t>
            </a:r>
            <a:r>
              <a:rPr lang="en-US" sz="2000" dirty="0" smtClean="0"/>
              <a:t>Configure Database </a:t>
            </a:r>
            <a:endParaRPr lang="en-US" sz="2000" dirty="0"/>
          </a:p>
        </p:txBody>
      </p:sp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42910" y="1428736"/>
            <a:ext cx="7226280" cy="3093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000" dirty="0" smtClean="0"/>
              <a:t>JMS (Java massaging </a:t>
            </a:r>
            <a:r>
              <a:rPr lang="en-US" sz="2000" dirty="0" smtClean="0"/>
              <a:t>service) </a:t>
            </a:r>
            <a:r>
              <a:rPr lang="en-US" sz="2000" dirty="0" smtClean="0"/>
              <a:t>Configure Database </a:t>
            </a:r>
            <a:endParaRPr lang="en-US" sz="2000" dirty="0"/>
          </a:p>
        </p:txBody>
      </p:sp>
      <p:pic>
        <p:nvPicPr>
          <p:cNvPr id="2150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42938" y="1172976"/>
            <a:ext cx="9215474" cy="2964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000" dirty="0" smtClean="0"/>
              <a:t>JMS (Java massaging </a:t>
            </a:r>
            <a:r>
              <a:rPr lang="en-US" sz="2000" dirty="0" smtClean="0"/>
              <a:t>service) </a:t>
            </a:r>
            <a:r>
              <a:rPr lang="en-US" sz="2000" dirty="0" smtClean="0"/>
              <a:t>Configure Database </a:t>
            </a:r>
            <a:endParaRPr lang="en-US" sz="2000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3714752"/>
            <a:ext cx="7610475" cy="350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436916" y="1285860"/>
            <a:ext cx="6573484" cy="20336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773</Words>
  <Application>Microsoft Office PowerPoint</Application>
  <PresentationFormat>On-screen Show (4:3)</PresentationFormat>
  <Paragraphs>120</Paragraphs>
  <Slides>20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JMS (Java massaging service)</vt:lpstr>
      <vt:lpstr>JMS (Java massaging service) Queue</vt:lpstr>
      <vt:lpstr>JMS (Java massaging service) SIB</vt:lpstr>
      <vt:lpstr>JMS (Java massaging service) Store </vt:lpstr>
      <vt:lpstr>JMS (Java massaging service) SIB High Availability</vt:lpstr>
      <vt:lpstr>JMS (Java massaging service) Configure Services Integration Bus (SIB)</vt:lpstr>
      <vt:lpstr>JMS (Java massaging service)</vt:lpstr>
      <vt:lpstr>JMS (Java massaging service) JMS Provider</vt:lpstr>
      <vt:lpstr>JMS (Java massaging service) JMS Provider Service Integration Bus (SIB): JMS Provider</vt:lpstr>
      <vt:lpstr>JMS (Java massaging service) JMS Provider </vt:lpstr>
      <vt:lpstr>JMS (Java massaging service) Add Bus member </vt:lpstr>
      <vt:lpstr>JMS (Java massaging service) Add Bus member </vt:lpstr>
      <vt:lpstr>Slide 13</vt:lpstr>
      <vt:lpstr>JMS (Java massaging service) Configure Database </vt:lpstr>
      <vt:lpstr>JMS (Java massaging service) Configure Database </vt:lpstr>
      <vt:lpstr>JMS (Java massaging service) Configure Database </vt:lpstr>
      <vt:lpstr>JMS (Java massaging service) Configure Database </vt:lpstr>
      <vt:lpstr>JMS (Java massaging service) Configure Database </vt:lpstr>
      <vt:lpstr>JMS (Java massaging service) Configure Database </vt:lpstr>
      <vt:lpstr>JMS (Java massaging service) Configure Database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JMS (Java massaging system)</dc:title>
  <dc:creator>Tanaji Bajgire</dc:creator>
  <cp:lastModifiedBy>Tanaji Bajgire</cp:lastModifiedBy>
  <cp:revision>54</cp:revision>
  <dcterms:created xsi:type="dcterms:W3CDTF">2025-12-03T23:47:22Z</dcterms:created>
  <dcterms:modified xsi:type="dcterms:W3CDTF">2025-12-04T05:27:25Z</dcterms:modified>
</cp:coreProperties>
</file>